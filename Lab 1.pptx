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360C7EF-9E2C-6F66-7E08-842FD068890B}">
          <p14:sldIdLst>
            <p14:sldId id="256"/>
            <p14:sldId id="257"/>
            <p14:sldId id="258"/>
          </p14:sldIdLst>
        </p14:section>
        <p14:section name="Principe" id="{2016BC3D-1600-98F2-6965-071B2558ED42}">
          <p14:sldIdLst>
            <p14:sldId id="259"/>
          </p14:sldIdLst>
        </p14:section>
        <p14:section name="Méthodologie" id="{6BF31149-5BF4-94B7-D8AC-420F68343501}">
          <p14:sldIdLst>
            <p14:sldId id="260"/>
            <p14:sldId id="261"/>
            <p14:sldId id="262"/>
            <p14:sldId id="263"/>
            <p14:sldId id="266"/>
            <p14:sldId id="265"/>
          </p14:sldIdLst>
        </p14:section>
        <p14:section name="Conclusion" id="{1A805677-6BA9-A893-1A4A-5B7E6298FD24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58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76465-A4B2-B21B-5325-EEBEE83E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62204-93BB-538E-E642-7C99344AE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5B1FA-6A86-CBC4-DF69-8F8BF63C4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F1B34-E8A0-7FF3-0867-A61BE7B86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73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510EC-4DC4-C5AC-B472-2C6BB43E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3980C-8042-A507-F55D-D88B00483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69AF2-7FC0-06DD-6691-07982EE25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0F247-2CF6-1EF5-328C-C50B222F7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76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52044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Lab 1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520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1"/>
                </a:solidFill>
              </a:rPr>
              <a:t>Préparation</a:t>
            </a:r>
            <a:r>
              <a:rPr lang="en-US" sz="2000" dirty="0">
                <a:solidFill>
                  <a:schemeClr val="accent1"/>
                </a:solidFill>
              </a:rPr>
              <a:t> de la machine et premier </a:t>
            </a:r>
            <a:r>
              <a:rPr lang="en-US" sz="2000" dirty="0" err="1">
                <a:solidFill>
                  <a:schemeClr val="accent1"/>
                </a:solidFill>
              </a:rPr>
              <a:t>sujet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Interaction </a:t>
            </a:r>
            <a:r>
              <a:rPr lang="en-US" sz="2000" dirty="0" err="1">
                <a:solidFill>
                  <a:schemeClr val="accent1"/>
                </a:solidFill>
              </a:rPr>
              <a:t>humain</a:t>
            </a:r>
            <a:r>
              <a:rPr lang="en-US" sz="2000" dirty="0">
                <a:solidFill>
                  <a:schemeClr val="accent1"/>
                </a:solidFill>
              </a:rPr>
              <a:t>-robot — UQAC, </a:t>
            </a:r>
            <a:r>
              <a:rPr lang="en-US" sz="2000" dirty="0" err="1">
                <a:solidFill>
                  <a:schemeClr val="accent1"/>
                </a:solidFill>
              </a:rPr>
              <a:t>automne</a:t>
            </a:r>
            <a:r>
              <a:rPr lang="en-US" sz="2000" dirty="0">
                <a:solidFill>
                  <a:schemeClr val="accent1"/>
                </a:solidFill>
              </a:rPr>
              <a:t> 2026</a:t>
            </a:r>
            <a:endParaRPr lang="en-US" sz="2000" dirty="0"/>
          </a:p>
        </p:txBody>
      </p:sp>
      <p:sp>
        <p:nvSpPr>
          <p:cNvPr id="4" name="cercle icône"/>
          <p:cNvSpPr/>
          <p:nvPr/>
        </p:nvSpPr>
        <p:spPr>
          <a:xfrm>
            <a:off x="9052560" y="1828800"/>
            <a:ext cx="2377440" cy="23774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ouce levé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4231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Rappel des étapes</a:t>
            </a:r>
            <a:endParaRPr lang="en-US" sz="3200" dirty="0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F078E28B-ACD4-8D8B-C3ED-4B09CEF42718}"/>
              </a:ext>
            </a:extLst>
          </p:cNvPr>
          <p:cNvGrpSpPr/>
          <p:nvPr/>
        </p:nvGrpSpPr>
        <p:grpSpPr>
          <a:xfrm>
            <a:off x="8168640" y="1279829"/>
            <a:ext cx="3200400" cy="1600200"/>
            <a:chOff x="548640" y="1371600"/>
            <a:chExt cx="3200400" cy="1600200"/>
          </a:xfrm>
        </p:grpSpPr>
        <p:sp>
          <p:nvSpPr>
            <p:cNvPr id="3" name="étape 1"/>
            <p:cNvSpPr/>
            <p:nvPr/>
          </p:nvSpPr>
          <p:spPr>
            <a:xfrm>
              <a:off x="548640" y="1371600"/>
              <a:ext cx="3200400" cy="1600200"/>
            </a:xfrm>
            <a:prstGeom prst="roundRect">
              <a:avLst>
                <a:gd name="adj" fmla="val 6857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badge 1"/>
            <p:cNvSpPr/>
            <p:nvPr/>
          </p:nvSpPr>
          <p:spPr>
            <a:xfrm>
              <a:off x="822960" y="1600200"/>
              <a:ext cx="457200" cy="457200"/>
            </a:xfrm>
            <a:prstGeom prst="ellipse">
              <a:avLst/>
            </a:prstGeom>
            <a:solidFill>
              <a:srgbClr val="D5DAE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822960" y="16002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/>
                <a:t>3</a:t>
              </a:r>
              <a:endParaRPr lang="en-US" sz="16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1417320" y="160020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tx1"/>
                  </a:solidFill>
                </a:rPr>
                <a:t>Devoir 1</a:t>
              </a:r>
              <a:endParaRPr lang="en-US" sz="20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822960" y="2194560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fr-FR" sz="1400" dirty="0">
                  <a:solidFill>
                    <a:schemeClr val="tx2"/>
                  </a:solidFill>
                </a:rPr>
                <a:t>Application au devoir de détection</a:t>
              </a:r>
            </a:p>
          </p:txBody>
        </p:sp>
      </p:grpSp>
      <p:sp>
        <p:nvSpPr>
          <p:cNvPr id="8" name="Shape 6"/>
          <p:cNvSpPr/>
          <p:nvPr/>
        </p:nvSpPr>
        <p:spPr>
          <a:xfrm>
            <a:off x="3858768" y="2011680"/>
            <a:ext cx="420624" cy="32004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F9C205A5-B53F-F233-D39C-4F1797948C31}"/>
              </a:ext>
            </a:extLst>
          </p:cNvPr>
          <p:cNvGrpSpPr/>
          <p:nvPr/>
        </p:nvGrpSpPr>
        <p:grpSpPr>
          <a:xfrm>
            <a:off x="548640" y="1280160"/>
            <a:ext cx="3200400" cy="1600200"/>
            <a:chOff x="4389120" y="1371600"/>
            <a:chExt cx="3200400" cy="1600200"/>
          </a:xfrm>
        </p:grpSpPr>
        <p:sp>
          <p:nvSpPr>
            <p:cNvPr id="9" name="étape 2"/>
            <p:cNvSpPr/>
            <p:nvPr/>
          </p:nvSpPr>
          <p:spPr>
            <a:xfrm>
              <a:off x="4389120" y="1371600"/>
              <a:ext cx="3200400" cy="1600200"/>
            </a:xfrm>
            <a:prstGeom prst="roundRect">
              <a:avLst>
                <a:gd name="adj" fmla="val 6857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badge 2"/>
            <p:cNvSpPr/>
            <p:nvPr/>
          </p:nvSpPr>
          <p:spPr>
            <a:xfrm>
              <a:off x="4663440" y="1600200"/>
              <a:ext cx="457200" cy="457200"/>
            </a:xfrm>
            <a:prstGeom prst="ellipse">
              <a:avLst/>
            </a:prstGeom>
            <a:solidFill>
              <a:srgbClr val="D5DAE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663440" y="16002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/>
                <a:t>1</a:t>
              </a:r>
              <a:endParaRPr lang="en-US" sz="16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257800" y="160020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tx1"/>
                  </a:solidFill>
                </a:rPr>
                <a:t>aider-kit</a:t>
              </a:r>
              <a:endParaRPr lang="en-US" sz="20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4663440" y="2194560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Installation du kit aider</a:t>
              </a:r>
              <a:endParaRPr lang="en-US" sz="14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7699248" y="2011680"/>
            <a:ext cx="420624" cy="32004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cadre Laboratoires"/>
          <p:cNvSpPr/>
          <p:nvPr/>
        </p:nvSpPr>
        <p:spPr>
          <a:xfrm>
            <a:off x="548640" y="3520440"/>
            <a:ext cx="2651760" cy="2386325"/>
          </a:xfrm>
          <a:prstGeom prst="roundRect">
            <a:avLst>
              <a:gd name="adj" fmla="val 3065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76656" y="361188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32104" y="36118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987552" y="361188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1188720" y="3538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Laboratoires</a:t>
            </a:r>
            <a:endParaRPr lang="en-US" sz="1000" dirty="0"/>
          </a:p>
        </p:txBody>
      </p:sp>
      <p:pic>
        <p:nvPicPr>
          <p:cNvPr id="25" name="Image 0" descr="Laboratoi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94760"/>
            <a:ext cx="2505456" cy="2038853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566160" y="39319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Organisation du dossier de travail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chemeClr val="tx1"/>
                </a:solidFill>
              </a:rPr>
              <a:t>Chaque étape a son propre sous-dossier : </a:t>
            </a:r>
            <a:r>
              <a:rPr lang="en-US" sz="1500" dirty="0"/>
              <a:t>aider-kit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/>
              <a:t>lab1</a:t>
            </a:r>
            <a:r>
              <a:rPr lang="en-US" sz="1500" dirty="0">
                <a:solidFill>
                  <a:schemeClr val="tx1"/>
                </a:solidFill>
              </a:rPr>
              <a:t>, puis Devoir1. Un seul environnement Python (.venv) est partagé par tous les projets.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59AF494F-9C4E-0D66-6618-4F605D493AEC}"/>
              </a:ext>
            </a:extLst>
          </p:cNvPr>
          <p:cNvGrpSpPr/>
          <p:nvPr/>
        </p:nvGrpSpPr>
        <p:grpSpPr>
          <a:xfrm>
            <a:off x="4361290" y="1280160"/>
            <a:ext cx="3200400" cy="1600200"/>
            <a:chOff x="8229600" y="1371600"/>
            <a:chExt cx="3200400" cy="1600200"/>
          </a:xfrm>
        </p:grpSpPr>
        <p:sp>
          <p:nvSpPr>
            <p:cNvPr id="32" name="étape 3">
              <a:extLst>
                <a:ext uri="{FF2B5EF4-FFF2-40B4-BE49-F238E27FC236}">
                  <a16:creationId xmlns:a16="http://schemas.microsoft.com/office/drawing/2014/main" id="{55BD5B04-63A8-E902-7E27-1E2A3625254E}"/>
                </a:ext>
              </a:extLst>
            </p:cNvPr>
            <p:cNvSpPr/>
            <p:nvPr/>
          </p:nvSpPr>
          <p:spPr>
            <a:xfrm>
              <a:off x="8229600" y="1371600"/>
              <a:ext cx="3200400" cy="1600200"/>
            </a:xfrm>
            <a:prstGeom prst="roundRect">
              <a:avLst>
                <a:gd name="adj" fmla="val 6857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badge 3">
              <a:extLst>
                <a:ext uri="{FF2B5EF4-FFF2-40B4-BE49-F238E27FC236}">
                  <a16:creationId xmlns:a16="http://schemas.microsoft.com/office/drawing/2014/main" id="{F41BE391-9524-A7A7-A17D-4A7DF94F8971}"/>
                </a:ext>
              </a:extLst>
            </p:cNvPr>
            <p:cNvSpPr/>
            <p:nvPr/>
          </p:nvSpPr>
          <p:spPr>
            <a:xfrm>
              <a:off x="8503920" y="1600200"/>
              <a:ext cx="457200" cy="45720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75B5D3D8-CA16-BFC3-333C-7D7298333CF2}"/>
                </a:ext>
              </a:extLst>
            </p:cNvPr>
            <p:cNvSpPr txBox="1"/>
            <p:nvPr/>
          </p:nvSpPr>
          <p:spPr>
            <a:xfrm>
              <a:off x="8503920" y="16002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/>
                <a:t>2</a:t>
              </a:r>
              <a:endParaRPr lang="en-US" sz="16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3BD3FFC0-EABE-CEF1-416B-D54F2C99B61C}"/>
                </a:ext>
              </a:extLst>
            </p:cNvPr>
            <p:cNvSpPr txBox="1"/>
            <p:nvPr/>
          </p:nvSpPr>
          <p:spPr>
            <a:xfrm>
              <a:off x="9098280" y="1600200"/>
              <a:ext cx="2194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Lab 1</a:t>
              </a:r>
              <a:endParaRPr lang="en-US" sz="2000" dirty="0"/>
            </a:p>
          </p:txBody>
        </p:sp>
        <p:sp>
          <p:nvSpPr>
            <p:cNvPr id="36" name="Text 17">
              <a:extLst>
                <a:ext uri="{FF2B5EF4-FFF2-40B4-BE49-F238E27FC236}">
                  <a16:creationId xmlns:a16="http://schemas.microsoft.com/office/drawing/2014/main" id="{0ACBEDFD-B0B1-A21E-D7C8-D861EBB5CBBD}"/>
                </a:ext>
              </a:extLst>
            </p:cNvPr>
            <p:cNvSpPr txBox="1"/>
            <p:nvPr/>
          </p:nvSpPr>
          <p:spPr>
            <a:xfrm>
              <a:off x="8503920" y="2194560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fr-FR" sz="1400" dirty="0">
                  <a:solidFill>
                    <a:schemeClr val="bg1"/>
                  </a:solidFill>
                </a:rPr>
                <a:t>Installation de la boîte à outils (moteur ROS…)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Objectif du Lab 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389120" y="173736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dirty="0"/>
              <a:t>P</a:t>
            </a:r>
            <a:r>
              <a:rPr lang="fr-FR" sz="2600" dirty="0">
                <a:solidFill>
                  <a:schemeClr val="tx1"/>
                </a:solidFill>
              </a:rPr>
              <a:t>réparer la machine pour les trois travaux suivants et traiter un premier sujet, l'évitement de collision.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</p:txBody>
      </p:sp>
      <p:sp>
        <p:nvSpPr>
          <p:cNvPr id="6" name="critère Compter"/>
          <p:cNvSpPr/>
          <p:nvPr/>
        </p:nvSpPr>
        <p:spPr>
          <a:xfrm>
            <a:off x="4389120" y="3749040"/>
            <a:ext cx="33832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617720" y="406908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Comp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42245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3931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Compter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le nombre de mains avec le pouce levé</a:t>
            </a:r>
            <a:endParaRPr lang="en-US" sz="1700" dirty="0"/>
          </a:p>
        </p:txBody>
      </p:sp>
      <p:sp>
        <p:nvSpPr>
          <p:cNvPr id="10" name="critère Stabiliser"/>
          <p:cNvSpPr/>
          <p:nvPr/>
        </p:nvSpPr>
        <p:spPr>
          <a:xfrm>
            <a:off x="8046720" y="3749040"/>
            <a:ext cx="33832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8275320" y="406908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Stabilis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42245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098280" y="3931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Stabiliser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le résultat entre trames successives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22B09BD-D538-BD57-E908-7C8F87DF2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86" y="1737360"/>
            <a:ext cx="4009314" cy="3819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Principe : du code à compléter, des tests à faire passer</a:t>
            </a:r>
            <a:endParaRPr lang="en-US" sz="3200" dirty="0"/>
          </a:p>
        </p:txBody>
      </p:sp>
      <p:sp>
        <p:nvSpPr>
          <p:cNvPr id="3" name="cadre Devoir1_etudiant"/>
          <p:cNvSpPr/>
          <p:nvPr/>
        </p:nvSpPr>
        <p:spPr>
          <a:xfrm>
            <a:off x="548640" y="1280160"/>
            <a:ext cx="3108960" cy="4692701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76656" y="137160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32104" y="137160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87552" y="137160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188720" y="1298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Devoir1_etudiant</a:t>
            </a:r>
            <a:endParaRPr lang="en-US" sz="1000" dirty="0"/>
          </a:p>
        </p:txBody>
      </p:sp>
      <p:sp>
        <p:nvSpPr>
          <p:cNvPr id="11" name="cadre code/thumb_detector.py"/>
          <p:cNvSpPr/>
          <p:nvPr/>
        </p:nvSpPr>
        <p:spPr>
          <a:xfrm>
            <a:off x="4572000" y="1280160"/>
            <a:ext cx="7040880" cy="3556268"/>
          </a:xfrm>
          <a:prstGeom prst="roundRect">
            <a:avLst>
              <a:gd name="adj" fmla="val 2057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700016" y="137160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855464" y="137160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010912" y="137160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212080" y="129844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code/astar.py</a:t>
            </a:r>
            <a:endParaRPr lang="en-US" sz="1000" dirty="0"/>
          </a:p>
        </p:txBody>
      </p:sp>
      <p:sp>
        <p:nvSpPr>
          <p:cNvPr id="18" name="carte Les programmes — code/"/>
          <p:cNvSpPr/>
          <p:nvPr/>
        </p:nvSpPr>
        <p:spPr>
          <a:xfrm>
            <a:off x="4572000" y="5156468"/>
            <a:ext cx="34290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800600" y="540335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 txBox="1"/>
          <p:nvPr/>
        </p:nvSpPr>
        <p:spPr>
          <a:xfrm>
            <a:off x="5120640" y="53210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programmes — code/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800600" y="57508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Chaque fonction a une docstring et un indice, mais lève NotImplementedError : c’est à vous de l’implémenter.</a:t>
            </a:r>
            <a:endParaRPr lang="en-US" sz="1300" dirty="0"/>
          </a:p>
        </p:txBody>
      </p:sp>
      <p:sp>
        <p:nvSpPr>
          <p:cNvPr id="22" name="carte Les tests — test/"/>
          <p:cNvSpPr/>
          <p:nvPr/>
        </p:nvSpPr>
        <p:spPr>
          <a:xfrm>
            <a:off x="8183880" y="5156468"/>
            <a:ext cx="34290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8412480" y="540335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 txBox="1"/>
          <p:nvPr/>
        </p:nvSpPr>
        <p:spPr>
          <a:xfrm>
            <a:off x="8732520" y="53210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tests — test/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412480" y="57508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La suite pytest vérifie chaque fonction. Elle ne doit pas être modifiée : le devoir est réussi quand elle passe en entier.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B2622822-26E3-56D0-DCA1-04DD78606A4F}"/>
              </a:ext>
            </a:extLst>
          </p:cNvPr>
          <p:cNvGrpSpPr/>
          <p:nvPr/>
        </p:nvGrpSpPr>
        <p:grpSpPr>
          <a:xfrm>
            <a:off x="923544" y="1627632"/>
            <a:ext cx="2027463" cy="3669296"/>
            <a:chOff x="923544" y="1627632"/>
            <a:chExt cx="2027463" cy="3669296"/>
          </a:xfrm>
        </p:grpSpPr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E69A2BC0-DD85-B7D3-D790-0C242C82E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3544" y="1627632"/>
              <a:ext cx="2027462" cy="1929988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4B047AE9-02BC-D08A-7C7A-79FCD4F86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5894"/>
            <a:stretch>
              <a:fillRect/>
            </a:stretch>
          </p:blipFill>
          <p:spPr>
            <a:xfrm>
              <a:off x="923545" y="3557619"/>
              <a:ext cx="2027462" cy="1739309"/>
            </a:xfrm>
            <a:prstGeom prst="rect">
              <a:avLst/>
            </a:prstGeom>
          </p:spPr>
        </p:pic>
      </p:grpSp>
      <p:sp>
        <p:nvSpPr>
          <p:cNvPr id="37" name="cadre tests">
            <a:extLst>
              <a:ext uri="{FF2B5EF4-FFF2-40B4-BE49-F238E27FC236}">
                <a16:creationId xmlns:a16="http://schemas.microsoft.com/office/drawing/2014/main" id="{BA6C21F0-2031-567E-A1BA-719042F09553}"/>
              </a:ext>
            </a:extLst>
          </p:cNvPr>
          <p:cNvSpPr/>
          <p:nvPr/>
        </p:nvSpPr>
        <p:spPr>
          <a:xfrm>
            <a:off x="977389" y="3870899"/>
            <a:ext cx="1973617" cy="1426029"/>
          </a:xfrm>
          <a:prstGeom prst="rect">
            <a:avLst/>
          </a:prstGeom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cadre programmes">
            <a:extLst>
              <a:ext uri="{FF2B5EF4-FFF2-40B4-BE49-F238E27FC236}">
                <a16:creationId xmlns:a16="http://schemas.microsoft.com/office/drawing/2014/main" id="{27E5B8FE-E5A1-1E7A-6AB3-D5C5B81A4820}"/>
              </a:ext>
            </a:extLst>
          </p:cNvPr>
          <p:cNvSpPr/>
          <p:nvPr/>
        </p:nvSpPr>
        <p:spPr>
          <a:xfrm>
            <a:off x="1188720" y="2309047"/>
            <a:ext cx="1640619" cy="1248574"/>
          </a:xfrm>
          <a:prstGeom prst="rect">
            <a:avLst/>
          </a:prstGeom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C9871E89-8C73-4F6C-06F5-A35C2BC43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548" y="1601977"/>
            <a:ext cx="5392177" cy="2912634"/>
          </a:xfrm>
          <a:prstGeom prst="rect">
            <a:avLst/>
          </a:prstGeom>
        </p:spPr>
      </p:pic>
      <p:sp>
        <p:nvSpPr>
          <p:cNvPr id="43" name="Shape 13">
            <a:extLst>
              <a:ext uri="{FF2B5EF4-FFF2-40B4-BE49-F238E27FC236}">
                <a16:creationId xmlns:a16="http://schemas.microsoft.com/office/drawing/2014/main" id="{BC83EFFE-64F9-13C4-3BF7-3EF41BEDFF4E}"/>
              </a:ext>
            </a:extLst>
          </p:cNvPr>
          <p:cNvSpPr/>
          <p:nvPr/>
        </p:nvSpPr>
        <p:spPr>
          <a:xfrm flipV="1">
            <a:off x="3094514" y="2564296"/>
            <a:ext cx="1916398" cy="36903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Méthodologie — préparer le projet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Initialiser le kit </a:t>
            </a:r>
            <a:r>
              <a:rPr lang="en-US" sz="1800" b="1">
                <a:solidFill>
                  <a:schemeClr val="tx1"/>
                </a:solidFill>
              </a:rPr>
              <a:t>dans Lab1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r>
              <a:rPr lang="en-US" sz="1300" dirty="0" err="1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300" dirty="0">
              <a:solidFill>
                <a:schemeClr val="bg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"..\aider-kit\install-hooks.ps1"</a:t>
            </a: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USERNAME/lab1</a:t>
            </a: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-A</a:t>
            </a: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</a:t>
            </a:r>
            <a:r>
              <a:rPr lang="en-US" sz="1300" dirty="0" err="1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etat</a:t>
            </a: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depart du lab 1"</a:t>
            </a: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depart</a:t>
            </a:r>
            <a:endParaRPr lang="en-US" sz="1300" dirty="0"/>
          </a:p>
        </p:txBody>
      </p:sp>
      <p:sp>
        <p:nvSpPr>
          <p:cNvPr id="7" name="badge 2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886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Créer le dossier et les plan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7241" y="4434840"/>
            <a:ext cx="6266357" cy="2194560"/>
          </a:xfrm>
          <a:prstGeom prst="roundRect">
            <a:avLst>
              <a:gd name="adj" fmla="val 6905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/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docs\superpowers\plans</a:t>
            </a:r>
          </a:p>
          <a:p>
            <a:endParaRPr lang="en-US" sz="1300" dirty="0">
              <a:solidFill>
                <a:schemeClr val="bg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New-Item -Path docs\superpowers\plans\spec.md -ItemType File</a:t>
            </a: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New-Item -Path docs\superpowers\plans\plan1.md -ItemType File</a:t>
            </a: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New-Item -Path docs\superpowers\plans\progress.md -ItemType File</a:t>
            </a:r>
          </a:p>
          <a:p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New-Item -Path docs\superpowers\plans\audit.md -ItemType File</a:t>
            </a:r>
            <a:endParaRPr lang="en-US" sz="1300" dirty="0"/>
          </a:p>
        </p:txBody>
      </p:sp>
      <p:sp>
        <p:nvSpPr>
          <p:cNvPr id="12" name="badge 3"/>
          <p:cNvSpPr/>
          <p:nvPr/>
        </p:nvSpPr>
        <p:spPr>
          <a:xfrm>
            <a:off x="603504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035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13258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Créer les fichiers de pilotage (.md)</a:t>
            </a:r>
            <a:endParaRPr lang="en-US" sz="1800" dirty="0"/>
          </a:p>
        </p:txBody>
      </p:sp>
      <p:sp>
        <p:nvSpPr>
          <p:cNvPr id="15" name="cadre plans/"/>
          <p:cNvSpPr/>
          <p:nvPr/>
        </p:nvSpPr>
        <p:spPr>
          <a:xfrm>
            <a:off x="6629400" y="1920240"/>
            <a:ext cx="1600200" cy="1653011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757416" y="201168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912864" y="20116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068312" y="201168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269480" y="19385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plans/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progress.md — suivi des tâches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2240280"/>
            <a:ext cx="310896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Progress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planX.md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NOM_FONCTION dans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code/FICHIER.py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3886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spec.md — ce que le programme doit faire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4206240"/>
            <a:ext cx="5486400" cy="246888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fr-FR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fr-FR" sz="1100" dirty="0" err="1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fr-FR" sz="1100" dirty="0">
              <a:solidFill>
                <a:schemeClr val="bg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fr-FR" sz="1100" dirty="0">
              <a:solidFill>
                <a:schemeClr val="bg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fr-FR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que le programme doit faire, en quelques phrases (objectif de l'énoncé).</a:t>
            </a:r>
          </a:p>
          <a:p>
            <a:pPr marL="0" indent="0">
              <a:buNone/>
            </a:pPr>
            <a:r>
              <a:rPr lang="fr-FR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fonctions à implémenter et dans quel fichier, en respectant leurs </a:t>
            </a:r>
            <a:r>
              <a:rPr lang="fr-FR" sz="1100" dirty="0" err="1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docstrings</a:t>
            </a:r>
            <a:endParaRPr lang="fr-FR" sz="1100" dirty="0">
              <a:solidFill>
                <a:schemeClr val="bg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fr-FR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leurs commentaires Indice. La suite test/ doit passer en entier.</a:t>
            </a:r>
          </a:p>
          <a:p>
            <a:pPr marL="0" indent="0">
              <a:buNone/>
            </a:pPr>
            <a:r>
              <a:rPr lang="fr-FR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fais que ce que le plan en cours demande.</a:t>
            </a:r>
          </a:p>
          <a:p>
            <a:pPr marL="0" indent="0">
              <a:buNone/>
            </a:pPr>
            <a:endParaRPr lang="fr-FR" sz="1100" dirty="0">
              <a:solidFill>
                <a:schemeClr val="bg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fr-FR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Interdit : modifier les fichiers de test/, changer la signature d'une fonction</a:t>
            </a:r>
          </a:p>
          <a:p>
            <a:pPr marL="0" indent="0">
              <a:buNone/>
            </a:pPr>
            <a:r>
              <a:rPr lang="fr-FR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existante, ajouter une dépendance.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F21AB284-25C6-B06E-D9CC-901BDDCC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64" y="2230605"/>
            <a:ext cx="1240271" cy="1171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Méthodologie — partir des tests en échec</a:t>
            </a:r>
            <a:endParaRPr lang="en-US" sz="3200" dirty="0"/>
          </a:p>
        </p:txBody>
      </p:sp>
      <p:sp>
        <p:nvSpPr>
          <p:cNvPr id="3" name="badge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Vérifier l’état de tous les tests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280160"/>
            <a:ext cx="557784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..\.venv\Scripts\python.exe -m pytest test -q</a:t>
            </a:r>
            <a:endParaRPr lang="en-US" sz="1300" dirty="0"/>
          </a:p>
        </p:txBody>
      </p:sp>
      <p:sp>
        <p:nvSpPr>
          <p:cNvPr id="7" name="cadre pytest — résumé"/>
          <p:cNvSpPr/>
          <p:nvPr/>
        </p:nvSpPr>
        <p:spPr>
          <a:xfrm>
            <a:off x="548640" y="1920240"/>
            <a:ext cx="11064240" cy="1949252"/>
          </a:xfrm>
          <a:prstGeom prst="roundRect">
            <a:avLst>
              <a:gd name="adj" fmla="val 3753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76656" y="201168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32104" y="20116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87552" y="201168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188720" y="193852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— résumé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9792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Point de départ : toutes les fonctions lèvent NotImplementedError, donc chaque test échoue.</a:t>
            </a:r>
            <a:endParaRPr lang="en-US" sz="1300" dirty="0"/>
          </a:p>
        </p:txBody>
      </p:sp>
      <p:sp>
        <p:nvSpPr>
          <p:cNvPr id="14" name="badge 5"/>
          <p:cNvSpPr/>
          <p:nvPr/>
        </p:nvSpPr>
        <p:spPr>
          <a:xfrm>
            <a:off x="548640" y="44638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48640" y="44638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44638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Écrire un plan .md par défaut</a:t>
            </a:r>
            <a:endParaRPr lang="en-US" sz="1800" dirty="0"/>
          </a:p>
        </p:txBody>
      </p:sp>
      <p:sp>
        <p:nvSpPr>
          <p:cNvPr id="17" name="cadre plans/"/>
          <p:cNvSpPr/>
          <p:nvPr/>
        </p:nvSpPr>
        <p:spPr>
          <a:xfrm>
            <a:off x="1143000" y="5012492"/>
            <a:ext cx="1737360" cy="1624721"/>
          </a:xfrm>
          <a:prstGeom prst="roundRect">
            <a:avLst>
              <a:gd name="adj" fmla="val 4502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1271016" y="510393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1426464" y="510393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1581912" y="5103932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1783080" y="50307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plans/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2909824" y="4871636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Un plan par défaut détecté, rangé dans docs/superpowers/plans (ici plan2.md).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Chaque plan cible une seule fonction :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aider ne touche qu’à ce que le plan demande.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5B401DE-5B16-05AA-D033-054784C61E5B}"/>
              </a:ext>
            </a:extLst>
          </p:cNvPr>
          <p:cNvSpPr txBox="1"/>
          <p:nvPr/>
        </p:nvSpPr>
        <p:spPr>
          <a:xfrm>
            <a:off x="6493256" y="5215721"/>
            <a:ext cx="5803018" cy="1718109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>
            <a:lvl1pPr indent="0">
              <a:buNone/>
              <a:defRPr sz="130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r>
              <a:rPr lang="fr-FR" dirty="0"/>
              <a:t># Plan X</a:t>
            </a:r>
          </a:p>
          <a:p>
            <a:endParaRPr lang="fr-FR" dirty="0"/>
          </a:p>
          <a:p>
            <a:r>
              <a:rPr lang="fr-FR" dirty="0"/>
              <a:t>1. Dans code/FICHIER.py, remplacer le </a:t>
            </a:r>
            <a:r>
              <a:rPr lang="fr-FR" dirty="0" err="1"/>
              <a:t>raise</a:t>
            </a:r>
            <a:r>
              <a:rPr lang="fr-FR" dirty="0"/>
              <a:t> </a:t>
            </a:r>
            <a:r>
              <a:rPr lang="fr-FR" dirty="0" err="1"/>
              <a:t>NotImplementedError</a:t>
            </a:r>
            <a:r>
              <a:rPr lang="fr-FR" dirty="0"/>
              <a:t> de NOM_FONCTION</a:t>
            </a:r>
          </a:p>
          <a:p>
            <a:r>
              <a:rPr lang="fr-FR" dirty="0"/>
              <a:t>   en suivant son </a:t>
            </a:r>
            <a:r>
              <a:rPr lang="fr-FR" dirty="0" err="1"/>
              <a:t>docstring</a:t>
            </a:r>
            <a:r>
              <a:rPr lang="fr-FR" dirty="0"/>
              <a:t> et son commentaire Indice. Ne pas modifier test/.</a:t>
            </a:r>
          </a:p>
          <a:p>
            <a:r>
              <a:rPr lang="fr-FR" dirty="0"/>
              <a:t>   Tests à faire passer : nom_du_test_1, nom_du_test_2.</a:t>
            </a:r>
            <a:endParaRPr lang="en-US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8BF0270A-DD82-A873-C2B8-2B876046F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287369"/>
            <a:ext cx="1530404" cy="125059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1FBB786-9FA6-BCFD-1D6A-99F181AEB5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878"/>
          <a:stretch>
            <a:fillRect/>
          </a:stretch>
        </p:blipFill>
        <p:spPr>
          <a:xfrm>
            <a:off x="676656" y="2242200"/>
            <a:ext cx="10645648" cy="15015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Méthodologie — lancer aider sur un plan</a:t>
            </a:r>
            <a:endParaRPr lang="en-US" sz="3200" dirty="0"/>
          </a:p>
        </p:txBody>
      </p:sp>
      <p:sp>
        <p:nvSpPr>
          <p:cNvPr id="3" name="badge 6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Exécuter aider-plan.ps1 (simulation -DryRun)</a:t>
            </a:r>
            <a:endParaRPr lang="en-US" sz="1800" dirty="0"/>
          </a:p>
        </p:txBody>
      </p:sp>
      <p:sp>
        <p:nvSpPr>
          <p:cNvPr id="6" name="cadre aider-plan.ps1 -DryRun"/>
          <p:cNvSpPr/>
          <p:nvPr/>
        </p:nvSpPr>
        <p:spPr>
          <a:xfrm>
            <a:off x="548640" y="1920240"/>
            <a:ext cx="6766560" cy="3984548"/>
          </a:xfrm>
          <a:prstGeom prst="roundRect">
            <a:avLst>
              <a:gd name="adj" fmla="val 1836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76656" y="201168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32104" y="20116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87552" y="201168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1188720" y="19385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aider-plan.ps1 -DryRun</a:t>
            </a:r>
            <a:endParaRPr lang="en-US" sz="1000" dirty="0"/>
          </a:p>
        </p:txBody>
      </p:sp>
      <p:sp>
        <p:nvSpPr>
          <p:cNvPr id="12" name="info Modèle"/>
          <p:cNvSpPr/>
          <p:nvPr/>
        </p:nvSpPr>
        <p:spPr>
          <a:xfrm>
            <a:off x="7680960" y="1920240"/>
            <a:ext cx="39319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7863840" y="19933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Modèle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qwen3.5:4b en local via Ollama</a:t>
            </a:r>
            <a:endParaRPr lang="en-US" sz="1300" dirty="0"/>
          </a:p>
        </p:txBody>
      </p:sp>
      <p:sp>
        <p:nvSpPr>
          <p:cNvPr id="14" name="info Contexte"/>
          <p:cNvSpPr/>
          <p:nvPr/>
        </p:nvSpPr>
        <p:spPr>
          <a:xfrm>
            <a:off x="7680960" y="2880360"/>
            <a:ext cx="39319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7863840" y="29535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Contexte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39 348 tokens libres pour le travail sur 65 536</a:t>
            </a:r>
            <a:endParaRPr lang="en-US" sz="1300" dirty="0"/>
          </a:p>
        </p:txBody>
      </p:sp>
      <p:sp>
        <p:nvSpPr>
          <p:cNvPr id="16" name="info Ensuite"/>
          <p:cNvSpPr/>
          <p:nvPr/>
        </p:nvSpPr>
        <p:spPr>
          <a:xfrm>
            <a:off x="7680960" y="3840480"/>
            <a:ext cx="39319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 txBox="1"/>
          <p:nvPr/>
        </p:nvSpPr>
        <p:spPr>
          <a:xfrm>
            <a:off x="7863840" y="39136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Ensuite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tests automatiques, puis audit par qwen2.5-coder:7b (2 rondes max)</a:t>
            </a:r>
            <a:endParaRPr lang="en-US" sz="1300" dirty="0"/>
          </a:p>
        </p:txBody>
      </p:sp>
      <p:sp>
        <p:nvSpPr>
          <p:cNvPr id="18" name="cadre audit"/>
          <p:cNvSpPr/>
          <p:nvPr/>
        </p:nvSpPr>
        <p:spPr>
          <a:xfrm>
            <a:off x="7680960" y="4892040"/>
            <a:ext cx="3931920" cy="863181"/>
          </a:xfrm>
          <a:prstGeom prst="roundRect">
            <a:avLst>
              <a:gd name="adj" fmla="val 8475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7808976" y="498348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7964424" y="49834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8119872" y="498348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8321040" y="49103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000" dirty="0"/>
          </a:p>
        </p:txBody>
      </p:sp>
      <p:pic>
        <p:nvPicPr>
          <p:cNvPr id="23" name="Image 1" descr="aud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5166360"/>
            <a:ext cx="3785616" cy="51570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48640" y="601451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L’audit relit les 7 fichiers en lecture seule et écrit ses remarques dans audit.md.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1DC3D571-1ED5-A58F-541E-F6F59E2B6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194561"/>
            <a:ext cx="6348712" cy="3623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Méthodologie — Execution des plans</a:t>
            </a:r>
            <a:endParaRPr lang="en-US" sz="3200" dirty="0"/>
          </a:p>
        </p:txBody>
      </p:sp>
      <p:sp>
        <p:nvSpPr>
          <p:cNvPr id="3" name="badge 7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Lancer aider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A9C9F0FE-0E6B-EAD4-FCD0-161E6971CC98}"/>
              </a:ext>
            </a:extLst>
          </p:cNvPr>
          <p:cNvSpPr txBox="1"/>
          <p:nvPr/>
        </p:nvSpPr>
        <p:spPr>
          <a:xfrm>
            <a:off x="1322269" y="1965960"/>
            <a:ext cx="8427319" cy="404742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>
            <a:lvl1pPr indent="0">
              <a:buNone/>
              <a:defRPr sz="110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r>
              <a:rPr lang="fr-FR" b="1" dirty="0"/>
              <a:t>aider-plan.ps1 -</a:t>
            </a:r>
            <a:r>
              <a:rPr lang="fr-FR" b="1" dirty="0" err="1"/>
              <a:t>TestCommand</a:t>
            </a:r>
            <a:r>
              <a:rPr lang="fr-FR" b="1" dirty="0"/>
              <a:t> '..\.</a:t>
            </a:r>
            <a:r>
              <a:rPr lang="fr-FR" b="1" dirty="0" err="1"/>
              <a:t>venv</a:t>
            </a:r>
            <a:r>
              <a:rPr lang="fr-FR" b="1" dirty="0"/>
              <a:t>\Scripts\python.exe -m </a:t>
            </a:r>
            <a:r>
              <a:rPr lang="fr-FR" b="1" dirty="0" err="1"/>
              <a:t>pytest</a:t>
            </a:r>
            <a:r>
              <a:rPr lang="fr-FR" b="1" dirty="0"/>
              <a:t> test -q -p </a:t>
            </a:r>
            <a:r>
              <a:rPr lang="fr-FR" b="1" dirty="0" err="1"/>
              <a:t>no:cacheprovider</a:t>
            </a:r>
            <a:r>
              <a:rPr lang="fr-FR" b="1" dirty="0"/>
              <a:t>’</a:t>
            </a: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4BC81E44-9FFC-C530-080F-1665D48395CC}"/>
              </a:ext>
            </a:extLst>
          </p:cNvPr>
          <p:cNvSpPr txBox="1"/>
          <p:nvPr/>
        </p:nvSpPr>
        <p:spPr>
          <a:xfrm>
            <a:off x="1116131" y="332537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dirty="0">
                <a:solidFill>
                  <a:schemeClr val="tx1"/>
                </a:solidFill>
              </a:rPr>
              <a:t>Vérifier en temps réel l’état de l’exécution de aider </a:t>
            </a:r>
            <a:endParaRPr lang="en-US" sz="1800" dirty="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2C83BFA7-1880-7CF0-D278-6FC91C8363C1}"/>
              </a:ext>
            </a:extLst>
          </p:cNvPr>
          <p:cNvSpPr txBox="1"/>
          <p:nvPr/>
        </p:nvSpPr>
        <p:spPr>
          <a:xfrm>
            <a:off x="1295400" y="4011170"/>
            <a:ext cx="8427319" cy="404742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>
            <a:lvl1pPr indent="0">
              <a:buNone/>
              <a:defRPr sz="110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r>
              <a:rPr lang="fr-FR" b="1" dirty="0"/>
              <a:t>aider-plan.ps1 -</a:t>
            </a:r>
            <a:r>
              <a:rPr lang="fr-FR" b="1" dirty="0" err="1"/>
              <a:t>TestCommand</a:t>
            </a:r>
            <a:r>
              <a:rPr lang="fr-FR" b="1" dirty="0"/>
              <a:t> '..\.</a:t>
            </a:r>
            <a:r>
              <a:rPr lang="fr-FR" b="1" dirty="0" err="1"/>
              <a:t>venv</a:t>
            </a:r>
            <a:r>
              <a:rPr lang="fr-FR" b="1" dirty="0"/>
              <a:t>\Scripts\python.exe -m </a:t>
            </a:r>
            <a:r>
              <a:rPr lang="fr-FR" b="1" dirty="0" err="1"/>
              <a:t>pytest</a:t>
            </a:r>
            <a:r>
              <a:rPr lang="fr-FR" b="1" dirty="0"/>
              <a:t> test -q -p </a:t>
            </a:r>
            <a:r>
              <a:rPr lang="fr-FR" b="1" dirty="0" err="1"/>
              <a:t>no:cacheprovider</a:t>
            </a:r>
            <a:r>
              <a:rPr lang="fr-FR" b="1" dirty="0"/>
              <a:t>’</a:t>
            </a:r>
          </a:p>
        </p:txBody>
      </p:sp>
      <p:sp>
        <p:nvSpPr>
          <p:cNvPr id="41" name="badge 7">
            <a:extLst>
              <a:ext uri="{FF2B5EF4-FFF2-40B4-BE49-F238E27FC236}">
                <a16:creationId xmlns:a16="http://schemas.microsoft.com/office/drawing/2014/main" id="{35D50126-ACBC-D8ED-1982-D673A043DFEC}"/>
              </a:ext>
            </a:extLst>
          </p:cNvPr>
          <p:cNvSpPr/>
          <p:nvPr/>
        </p:nvSpPr>
        <p:spPr>
          <a:xfrm>
            <a:off x="548640" y="3325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D90A8A4B-854C-CD66-A437-6EA818A8CBE9}"/>
              </a:ext>
            </a:extLst>
          </p:cNvPr>
          <p:cNvSpPr txBox="1"/>
          <p:nvPr/>
        </p:nvSpPr>
        <p:spPr>
          <a:xfrm>
            <a:off x="548640" y="3325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BCCE-9D81-6B3C-5A88-2BF4C340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66D1EE-D609-FF93-E489-19559D4C3DA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Méthodologie — vérifier le résultat</a:t>
            </a:r>
            <a:endParaRPr lang="en-US" sz="3200" dirty="0"/>
          </a:p>
        </p:txBody>
      </p:sp>
      <p:sp>
        <p:nvSpPr>
          <p:cNvPr id="3" name="badge 7">
            <a:extLst>
              <a:ext uri="{FF2B5EF4-FFF2-40B4-BE49-F238E27FC236}">
                <a16:creationId xmlns:a16="http://schemas.microsoft.com/office/drawing/2014/main" id="{5C8B6483-A082-143D-9BEF-0F882F3238E3}"/>
              </a:ext>
            </a:extLst>
          </p:cNvPr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AABE56-FE32-A3F1-F429-D98D838F509E}"/>
              </a:ext>
            </a:extLst>
          </p:cNvPr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9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8B13EC-C60A-54C1-CF0B-7C4D7D37ABF2}"/>
              </a:ext>
            </a:extLst>
          </p:cNvPr>
          <p:cNvSpPr txBox="1"/>
          <p:nvPr/>
        </p:nvSpPr>
        <p:spPr>
          <a:xfrm>
            <a:off x="1143000" y="128016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Relancer les tests ciblés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A3EB09-5934-FB27-FA3E-384028A229F4}"/>
              </a:ext>
            </a:extLst>
          </p:cNvPr>
          <p:cNvSpPr txBox="1"/>
          <p:nvPr/>
        </p:nvSpPr>
        <p:spPr>
          <a:xfrm>
            <a:off x="548640" y="1965960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AVANT</a:t>
            </a:r>
            <a:endParaRPr lang="en-US" sz="1300" dirty="0"/>
          </a:p>
        </p:txBody>
      </p:sp>
      <p:sp>
        <p:nvSpPr>
          <p:cNvPr id="7" name="cadre pytest test -q">
            <a:extLst>
              <a:ext uri="{FF2B5EF4-FFF2-40B4-BE49-F238E27FC236}">
                <a16:creationId xmlns:a16="http://schemas.microsoft.com/office/drawing/2014/main" id="{7BE47E80-1557-A0EA-CBFE-7C73D7C1E04A}"/>
              </a:ext>
            </a:extLst>
          </p:cNvPr>
          <p:cNvSpPr/>
          <p:nvPr/>
        </p:nvSpPr>
        <p:spPr>
          <a:xfrm>
            <a:off x="1920240" y="1920240"/>
            <a:ext cx="7589520" cy="1439472"/>
          </a:xfrm>
          <a:prstGeom prst="roundRect">
            <a:avLst>
              <a:gd name="adj" fmla="val 5082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41F04B-23BE-6464-D9F8-666D28F9CBBD}"/>
              </a:ext>
            </a:extLst>
          </p:cNvPr>
          <p:cNvSpPr/>
          <p:nvPr/>
        </p:nvSpPr>
        <p:spPr>
          <a:xfrm>
            <a:off x="2048256" y="201168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8837A7-CDAD-4988-5A19-AAD6BDB77204}"/>
              </a:ext>
            </a:extLst>
          </p:cNvPr>
          <p:cNvSpPr/>
          <p:nvPr/>
        </p:nvSpPr>
        <p:spPr>
          <a:xfrm>
            <a:off x="2203704" y="20116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00A27A3-4C35-50DA-ECF4-A9CFACC2A47C}"/>
              </a:ext>
            </a:extLst>
          </p:cNvPr>
          <p:cNvSpPr/>
          <p:nvPr/>
        </p:nvSpPr>
        <p:spPr>
          <a:xfrm>
            <a:off x="2359152" y="201168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16FDA60-916F-6E74-4A43-608801BEFA49}"/>
              </a:ext>
            </a:extLst>
          </p:cNvPr>
          <p:cNvSpPr txBox="1"/>
          <p:nvPr/>
        </p:nvSpPr>
        <p:spPr>
          <a:xfrm>
            <a:off x="2560320" y="19385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 -q</a:t>
            </a:r>
            <a:endParaRPr lang="en-US" sz="1000" dirty="0"/>
          </a:p>
        </p:txBody>
      </p:sp>
      <p:pic>
        <p:nvPicPr>
          <p:cNvPr id="12" name="Image 0" descr="pytest test -q">
            <a:extLst>
              <a:ext uri="{FF2B5EF4-FFF2-40B4-BE49-F238E27FC236}">
                <a16:creationId xmlns:a16="http://schemas.microsoft.com/office/drawing/2014/main" id="{CCE71460-1B53-07B3-4A00-1120ACF09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2194560"/>
            <a:ext cx="7443216" cy="1092000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7E3BCB8C-B5CA-DE0A-277D-042BA4BE0AD6}"/>
              </a:ext>
            </a:extLst>
          </p:cNvPr>
          <p:cNvSpPr txBox="1"/>
          <p:nvPr/>
        </p:nvSpPr>
        <p:spPr>
          <a:xfrm>
            <a:off x="548640" y="3771192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APRÈS</a:t>
            </a:r>
            <a:endParaRPr lang="en-US" sz="1300" dirty="0"/>
          </a:p>
        </p:txBody>
      </p:sp>
      <p:sp>
        <p:nvSpPr>
          <p:cNvPr id="14" name="cadre pytest -k &quot;cinq_mains or echelle&quot;">
            <a:extLst>
              <a:ext uri="{FF2B5EF4-FFF2-40B4-BE49-F238E27FC236}">
                <a16:creationId xmlns:a16="http://schemas.microsoft.com/office/drawing/2014/main" id="{D16848BA-708F-023F-8208-8828CE186DF0}"/>
              </a:ext>
            </a:extLst>
          </p:cNvPr>
          <p:cNvSpPr/>
          <p:nvPr/>
        </p:nvSpPr>
        <p:spPr>
          <a:xfrm>
            <a:off x="1920240" y="3725472"/>
            <a:ext cx="7589520" cy="755048"/>
          </a:xfrm>
          <a:prstGeom prst="roundRect">
            <a:avLst>
              <a:gd name="adj" fmla="val 9688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47BA4A4-9036-2674-6F24-CF09E5B03318}"/>
              </a:ext>
            </a:extLst>
          </p:cNvPr>
          <p:cNvSpPr/>
          <p:nvPr/>
        </p:nvSpPr>
        <p:spPr>
          <a:xfrm>
            <a:off x="2048256" y="381691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3A67206-1054-61BF-380D-7AEF1F81330F}"/>
              </a:ext>
            </a:extLst>
          </p:cNvPr>
          <p:cNvSpPr/>
          <p:nvPr/>
        </p:nvSpPr>
        <p:spPr>
          <a:xfrm>
            <a:off x="2203704" y="381691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BA1E8E6-038A-7CC2-C44A-AB8BF7EFE766}"/>
              </a:ext>
            </a:extLst>
          </p:cNvPr>
          <p:cNvSpPr/>
          <p:nvPr/>
        </p:nvSpPr>
        <p:spPr>
          <a:xfrm>
            <a:off x="2359152" y="3816912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916276F-739C-42A7-ADF4-E14BC44773FB}"/>
              </a:ext>
            </a:extLst>
          </p:cNvPr>
          <p:cNvSpPr txBox="1"/>
          <p:nvPr/>
        </p:nvSpPr>
        <p:spPr>
          <a:xfrm>
            <a:off x="2560320" y="3743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-k "cinq_mains or echelle"</a:t>
            </a:r>
            <a:endParaRPr lang="en-US" sz="1000" dirty="0"/>
          </a:p>
        </p:txBody>
      </p:sp>
      <p:pic>
        <p:nvPicPr>
          <p:cNvPr id="19" name="Image 1" descr="pytest -k &quot;cinq_mains or echelle&quot;">
            <a:extLst>
              <a:ext uri="{FF2B5EF4-FFF2-40B4-BE49-F238E27FC236}">
                <a16:creationId xmlns:a16="http://schemas.microsoft.com/office/drawing/2014/main" id="{9A81C06B-A88E-70AF-CD89-781163B6F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3999792"/>
            <a:ext cx="7443216" cy="407576"/>
          </a:xfrm>
          <a:prstGeom prst="rect">
            <a:avLst/>
          </a:prstGeom>
        </p:spPr>
      </p:pic>
      <p:sp>
        <p:nvSpPr>
          <p:cNvPr id="20" name="cadre Devoir1">
            <a:extLst>
              <a:ext uri="{FF2B5EF4-FFF2-40B4-BE49-F238E27FC236}">
                <a16:creationId xmlns:a16="http://schemas.microsoft.com/office/drawing/2014/main" id="{4B414A40-1B1D-59F2-EF90-5F954B8D73B4}"/>
              </a:ext>
            </a:extLst>
          </p:cNvPr>
          <p:cNvSpPr/>
          <p:nvPr/>
        </p:nvSpPr>
        <p:spPr>
          <a:xfrm>
            <a:off x="9829799" y="1920240"/>
            <a:ext cx="2247299" cy="1552168"/>
          </a:xfrm>
          <a:prstGeom prst="roundRect">
            <a:avLst>
              <a:gd name="adj" fmla="val 4713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20686EFA-8B12-6DEE-00B7-529DFA3B7C93}"/>
              </a:ext>
            </a:extLst>
          </p:cNvPr>
          <p:cNvSpPr/>
          <p:nvPr/>
        </p:nvSpPr>
        <p:spPr>
          <a:xfrm>
            <a:off x="9957816" y="201168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6A293824-3062-E8F1-1E02-A6070EE85622}"/>
              </a:ext>
            </a:extLst>
          </p:cNvPr>
          <p:cNvSpPr/>
          <p:nvPr/>
        </p:nvSpPr>
        <p:spPr>
          <a:xfrm>
            <a:off x="10113264" y="20116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C743EB54-2105-AD8B-10F6-2E02B8F71576}"/>
              </a:ext>
            </a:extLst>
          </p:cNvPr>
          <p:cNvSpPr/>
          <p:nvPr/>
        </p:nvSpPr>
        <p:spPr>
          <a:xfrm>
            <a:off x="10268712" y="2011680"/>
            <a:ext cx="91440" cy="914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7E701813-0AE7-3895-F03D-6DA9667B32EE}"/>
              </a:ext>
            </a:extLst>
          </p:cNvPr>
          <p:cNvSpPr txBox="1"/>
          <p:nvPr/>
        </p:nvSpPr>
        <p:spPr>
          <a:xfrm>
            <a:off x="10469880" y="1938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Process.md</a:t>
            </a:r>
            <a:endParaRPr lang="en-US" sz="10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003DD559-B8C8-8423-EA01-408DF1015D78}"/>
              </a:ext>
            </a:extLst>
          </p:cNvPr>
          <p:cNvSpPr txBox="1"/>
          <p:nvPr/>
        </p:nvSpPr>
        <p:spPr>
          <a:xfrm>
            <a:off x="9829800" y="358213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progress.md mis à jour</a:t>
            </a:r>
            <a:endParaRPr lang="en-US" sz="12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16EEA1CA-EAB1-8D99-C49E-E42CA0BE34A5}"/>
              </a:ext>
            </a:extLst>
          </p:cNvPr>
          <p:cNvSpPr txBox="1"/>
          <p:nvPr/>
        </p:nvSpPr>
        <p:spPr>
          <a:xfrm>
            <a:off x="548640" y="4846281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4"/>
                </a:solidFill>
              </a:rPr>
              <a:t>7</a:t>
            </a:r>
            <a:endParaRPr lang="en-US" sz="72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1C4C583C-8C48-407A-CD48-4AE3CA5F63DB}"/>
              </a:ext>
            </a:extLst>
          </p:cNvPr>
          <p:cNvSpPr txBox="1"/>
          <p:nvPr/>
        </p:nvSpPr>
        <p:spPr>
          <a:xfrm>
            <a:off x="1920240" y="4983441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tests ciblés réussis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après l’implémentation de is_thumb_extended (21 autres tests désélectionnés par -k).</a:t>
            </a:r>
            <a:endParaRPr lang="en-US" sz="2000" dirty="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5AFD626E-D56E-B8F6-09D8-053626D6A8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B12ABFAC-F432-BD9F-487D-F63012E2C1BB}"/>
              </a:ext>
            </a:extLst>
          </p:cNvPr>
          <p:cNvSpPr txBox="1"/>
          <p:nvPr/>
        </p:nvSpPr>
        <p:spPr>
          <a:xfrm>
            <a:off x="3764680" y="1350906"/>
            <a:ext cx="8427319" cy="404742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>
            <a:lvl1pPr indent="0">
              <a:buNone/>
              <a:defRPr sz="110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r>
              <a:rPr lang="fr-FR" b="1" dirty="0"/>
              <a:t>..\.</a:t>
            </a:r>
            <a:r>
              <a:rPr lang="fr-FR" b="1" dirty="0" err="1"/>
              <a:t>venv</a:t>
            </a:r>
            <a:r>
              <a:rPr lang="fr-FR" b="1" dirty="0"/>
              <a:t>\Scripts\python.exe -m </a:t>
            </a:r>
            <a:r>
              <a:rPr lang="fr-FR" b="1" dirty="0" err="1"/>
              <a:t>pytest</a:t>
            </a:r>
            <a:r>
              <a:rPr lang="fr-FR" b="1" dirty="0"/>
              <a:t> test -q -k "NOM_TEST_1.py or NOM_TEST_2.py"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0F7846B8-6480-9A5A-6D50-E7447D795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948" y="2240091"/>
            <a:ext cx="4759268" cy="25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03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266A-18CE-2AA6-BF55-4AD5B340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EBAF23-975F-7EC5-026F-C538FF963BA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Méthodologie — vérifier le résultat</a:t>
            </a:r>
            <a:endParaRPr lang="en-US" sz="3200" dirty="0"/>
          </a:p>
        </p:txBody>
      </p:sp>
      <p:sp>
        <p:nvSpPr>
          <p:cNvPr id="3" name="badge 7">
            <a:extLst>
              <a:ext uri="{FF2B5EF4-FFF2-40B4-BE49-F238E27FC236}">
                <a16:creationId xmlns:a16="http://schemas.microsoft.com/office/drawing/2014/main" id="{7A284412-E006-F87C-6E35-045903695FE6}"/>
              </a:ext>
            </a:extLst>
          </p:cNvPr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A9FB1F-8DD0-AD3B-7B9A-14252B60E637}"/>
              </a:ext>
            </a:extLst>
          </p:cNvPr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10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41188A-727B-EC32-8A8E-2E1B5DE98ADE}"/>
              </a:ext>
            </a:extLst>
          </p:cNvPr>
          <p:cNvSpPr txBox="1"/>
          <p:nvPr/>
        </p:nvSpPr>
        <p:spPr>
          <a:xfrm>
            <a:off x="1143000" y="128016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b="1" dirty="0"/>
              <a:t>Lancer le programme final dès que tous les tests sont au vert</a:t>
            </a:r>
            <a:endParaRPr lang="en-US" dirty="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E0482FA1-1B2B-6DC3-76E5-3ED8FA909A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662FBB0F-7B13-96DE-F4B7-99FACBFDB0ED}"/>
              </a:ext>
            </a:extLst>
          </p:cNvPr>
          <p:cNvSpPr txBox="1"/>
          <p:nvPr/>
        </p:nvSpPr>
        <p:spPr>
          <a:xfrm>
            <a:off x="1143000" y="2242686"/>
            <a:ext cx="4632158" cy="45720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t"/>
          <a:lstStyle>
            <a:lvl1pPr indent="0">
              <a:buNone/>
              <a:defRPr sz="110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r>
              <a:rPr lang="en-US" dirty="0"/>
              <a:t>..\..\.</a:t>
            </a:r>
            <a:r>
              <a:rPr lang="en-US" dirty="0" err="1"/>
              <a:t>venv</a:t>
            </a:r>
            <a:r>
              <a:rPr lang="en-US" dirty="0"/>
              <a:t>\Scripts\python.exe -m </a:t>
            </a:r>
            <a:r>
              <a:rPr lang="en-US" dirty="0" err="1"/>
              <a:t>planif.app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BDA6A1-8E00-076F-DBCF-F84210D30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173" y="2855435"/>
            <a:ext cx="4009314" cy="381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6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boucle de travail</a:t>
            </a:r>
            <a:endParaRPr lang="en-US" sz="3600" dirty="0"/>
          </a:p>
        </p:txBody>
      </p:sp>
      <p:sp>
        <p:nvSpPr>
          <p:cNvPr id="3" name="boucle spec.md"/>
          <p:cNvSpPr/>
          <p:nvPr/>
        </p:nvSpPr>
        <p:spPr>
          <a:xfrm>
            <a:off x="1143000" y="228600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114300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spec.md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5DAE1"/>
                </a:solidFill>
              </a:rPr>
              <a:t>définir l’objectif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14600" y="274320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oucle plan.md"/>
          <p:cNvSpPr/>
          <p:nvPr/>
        </p:nvSpPr>
        <p:spPr>
          <a:xfrm>
            <a:off x="3383280" y="228600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38328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plan.md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5DAE1"/>
                </a:solidFill>
              </a:rPr>
              <a:t>un défaut, une fonction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boucle aider"/>
          <p:cNvSpPr/>
          <p:nvPr/>
        </p:nvSpPr>
        <p:spPr>
          <a:xfrm>
            <a:off x="5623560" y="228600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62356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aider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5DAE1"/>
                </a:solidFill>
              </a:rPr>
              <a:t>implémenter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95160" y="274320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boucle pytest"/>
          <p:cNvSpPr/>
          <p:nvPr/>
        </p:nvSpPr>
        <p:spPr>
          <a:xfrm>
            <a:off x="7863840" y="228600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86384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pytest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5DAE1"/>
                </a:solidFill>
              </a:rPr>
              <a:t>valider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35440" y="2743200"/>
            <a:ext cx="365760" cy="274320"/>
          </a:xfrm>
          <a:prstGeom prst="rightArrow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boucle audit"/>
          <p:cNvSpPr/>
          <p:nvPr/>
        </p:nvSpPr>
        <p:spPr>
          <a:xfrm>
            <a:off x="10104120" y="228600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1010412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audit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5DAE1"/>
                </a:solidFill>
              </a:rPr>
              <a:t>relire le code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progress.md coche chaque fonction terminée ; on recommence avec le plan suivant jusqu’à ce que toute la suite test/ passe.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HR Devoir 1">
  <a:themeElements>
    <a:clrScheme name="IHR Devoir 1">
      <a:dk1>
        <a:srgbClr val="1B1F2A"/>
      </a:dk1>
      <a:lt1>
        <a:srgbClr val="FFFFFF"/>
      </a:lt1>
      <a:dk2>
        <a:srgbClr val="2B3245"/>
      </a:dk2>
      <a:lt2>
        <a:srgbClr val="F1F3F6"/>
      </a:lt2>
      <a:accent1>
        <a:srgbClr val="F2A541"/>
      </a:accent1>
      <a:accent2>
        <a:srgbClr val="2A9D8F"/>
      </a:accent2>
      <a:accent3>
        <a:srgbClr val="E63946"/>
      </a:accent3>
      <a:accent4>
        <a:srgbClr val="52B788"/>
      </a:accent4>
      <a:accent5>
        <a:srgbClr val="6C7A93"/>
      </a:accent5>
      <a:accent6>
        <a:srgbClr val="3D5A80"/>
      </a:accent6>
      <a:hlink>
        <a:srgbClr val="2A9D8F"/>
      </a:hlink>
      <a:folHlink>
        <a:srgbClr val="6C7A93"/>
      </a:folHlink>
    </a:clrScheme>
    <a:fontScheme name="IHR Devoir 1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Grand écran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IHR Devoir 1</vt:lpstr>
      <vt:lpstr>Lab 1</vt:lpstr>
      <vt:lpstr>Rappel des étapes</vt:lpstr>
      <vt:lpstr>Objectif du Lab 1</vt:lpstr>
      <vt:lpstr>Principe : du code à compléter, des tests à faire passer</vt:lpstr>
      <vt:lpstr>Méthodologie — préparer le projet</vt:lpstr>
      <vt:lpstr>Méthodologie — partir des tests en échec</vt:lpstr>
      <vt:lpstr>Méthodologie — lancer aider sur un plan</vt:lpstr>
      <vt:lpstr>Méthodologie — Execution des plans</vt:lpstr>
      <vt:lpstr>Méthodologie — vérifier le résultat</vt:lpstr>
      <vt:lpstr>Méthodologie — vérifier le résultat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Devoir 1 — Interaction humain-robot</dc:title>
  <dc:subject>PptxGenJS Presentation</dc:subject>
  <dc:creator>PptxGenJS</dc:creator>
  <cp:lastModifiedBy>LEOPOLD BECUWE OBRINGER</cp:lastModifiedBy>
  <cp:revision>7</cp:revision>
  <dcterms:created xsi:type="dcterms:W3CDTF">2026-10-05T00:24:53Z</dcterms:created>
  <dcterms:modified xsi:type="dcterms:W3CDTF">2026-10-06T18:11:02Z</dcterms:modified>
</cp:coreProperties>
</file>